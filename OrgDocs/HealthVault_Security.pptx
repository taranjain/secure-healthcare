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8A8A"/>
    <a:srgbClr val="02C4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012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27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07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A8A8A"/>
          </a:solidFill>
          <a:ln/>
        </p:spPr>
      </p:sp>
      <p:sp>
        <p:nvSpPr>
          <p:cNvPr id="7" name="Text 5"/>
          <p:cNvSpPr/>
          <p:nvPr/>
        </p:nvSpPr>
        <p:spPr>
          <a:xfrm>
            <a:off x="211016" y="1622451"/>
            <a:ext cx="8757137" cy="982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badi" panose="020B0604020104020204" pitchFamily="34" charset="0"/>
                <a:ea typeface="Calibri" pitchFamily="34" charset="-122"/>
                <a:cs typeface="Calibri" pitchFamily="34" charset="-120"/>
              </a:rPr>
              <a:t>HealthVault</a:t>
            </a:r>
            <a:endParaRPr lang="en-US" sz="6000" dirty="0">
              <a:latin typeface="Abadi" panose="020B0604020104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195967" y="2523070"/>
            <a:ext cx="6400800" cy="4156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Healthcare Data Sharing Platform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053883" y="2854067"/>
            <a:ext cx="6858000" cy="3022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encrypted • Patient-controlled consent • Hash-chain audit trail</a:t>
            </a:r>
            <a:endParaRPr lang="en-US" sz="13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5B85EB-15CC-47FD-9977-C51590AA417A}"/>
              </a:ext>
            </a:extLst>
          </p:cNvPr>
          <p:cNvSpPr txBox="1"/>
          <p:nvPr/>
        </p:nvSpPr>
        <p:spPr>
          <a:xfrm>
            <a:off x="2110154" y="4375052"/>
            <a:ext cx="5310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Indian Institute of Information Technology, Dharwad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44DC678-BCF7-416D-9F50-F061443137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1406" y="221757"/>
            <a:ext cx="363996" cy="3639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A8A8A"/>
          </a:solidFill>
          <a:ln/>
        </p:spPr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44DC678-BCF7-416D-9F50-F061443137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1406" y="221757"/>
            <a:ext cx="363996" cy="363996"/>
          </a:xfrm>
          <a:prstGeom prst="rect">
            <a:avLst/>
          </a:prstGeom>
        </p:spPr>
      </p:pic>
      <p:pic>
        <p:nvPicPr>
          <p:cNvPr id="2052" name="Picture 4" descr="Medical doctor doctor icon with ...">
            <a:extLst>
              <a:ext uri="{FF2B5EF4-FFF2-40B4-BE49-F238E27FC236}">
                <a16:creationId xmlns:a16="http://schemas.microsoft.com/office/drawing/2014/main" id="{D0921F21-7F96-4B07-8AA5-404560382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855" y="150018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F74B4F-41A5-412B-9118-49AE3B0FA081}"/>
              </a:ext>
            </a:extLst>
          </p:cNvPr>
          <p:cNvSpPr txBox="1"/>
          <p:nvPr/>
        </p:nvSpPr>
        <p:spPr>
          <a:xfrm>
            <a:off x="3313502" y="2321917"/>
            <a:ext cx="55270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“ This project is solving the problem of secure medical-record sharing between patients, doctors, and admins    </a:t>
            </a:r>
          </a:p>
          <a:p>
            <a:r>
              <a:rPr lang="en-IN" dirty="0">
                <a:solidFill>
                  <a:schemeClr val="bg1"/>
                </a:solidFill>
              </a:rPr>
              <a:t>without losing privacy, consent control, or traceability. 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7E00FE-8BA2-41D5-B84D-45EAB77F2721}"/>
              </a:ext>
            </a:extLst>
          </p:cNvPr>
          <p:cNvSpPr txBox="1"/>
          <p:nvPr/>
        </p:nvSpPr>
        <p:spPr>
          <a:xfrm>
            <a:off x="3313502" y="1778000"/>
            <a:ext cx="3149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What Problem are we solving ?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517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D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A8A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HealthVault?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production-grade, privacy-preserving web application for sharing medical records between patients, doctors, and administrators.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651760" cy="2834640"/>
          </a:xfrm>
          <a:prstGeom prst="rect">
            <a:avLst/>
          </a:prstGeom>
          <a:solidFill>
            <a:srgbClr val="122D44"/>
          </a:solidFill>
          <a:ln w="25400">
            <a:solidFill>
              <a:srgbClr val="0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20240"/>
            <a:ext cx="2651760" cy="502920"/>
          </a:xfrm>
          <a:prstGeom prst="rect">
            <a:avLst/>
          </a:prstGeom>
          <a:solidFill>
            <a:srgbClr val="0A8A8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920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137"/>
                </a:solidFill>
              </a:rPr>
              <a:t>  </a:t>
            </a:r>
            <a:r>
              <a:rPr lang="en-US" sz="1600" b="1" dirty="0">
                <a:solidFill>
                  <a:schemeClr val="bg1"/>
                </a:solidFill>
              </a:rPr>
              <a:t>Patient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5420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manage records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5409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/ revoke doctor access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expiry on consents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7822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audit logs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1920240"/>
            <a:ext cx="2651760" cy="2834640"/>
          </a:xfrm>
          <a:prstGeom prst="rect">
            <a:avLst/>
          </a:prstGeom>
          <a:solidFill>
            <a:srgbClr val="122D44"/>
          </a:solidFill>
          <a:ln w="25400">
            <a:solidFill>
              <a:srgbClr val="02C4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920240"/>
            <a:ext cx="2651760" cy="502920"/>
          </a:xfrm>
          <a:prstGeom prst="rect">
            <a:avLst/>
          </a:prstGeom>
          <a:solidFill>
            <a:srgbClr val="0A8A8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920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137"/>
                </a:solidFill>
              </a:rPr>
              <a:t>  </a:t>
            </a:r>
            <a:r>
              <a:rPr lang="en-US" sz="1600" b="1" dirty="0">
                <a:solidFill>
                  <a:schemeClr val="bg1"/>
                </a:solidFill>
              </a:rPr>
              <a:t>Doctor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91840" y="25420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consented records only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305409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required at login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Attribute-filtered access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407822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audit logs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1920240"/>
            <a:ext cx="2651760" cy="2834640"/>
          </a:xfrm>
          <a:prstGeom prst="rect">
            <a:avLst/>
          </a:prstGeom>
          <a:solidFill>
            <a:srgbClr val="122D44"/>
          </a:solidFill>
          <a:ln w="25400">
            <a:solidFill>
              <a:srgbClr val="02C4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920240"/>
            <a:ext cx="2651760" cy="502920"/>
          </a:xfrm>
          <a:prstGeom prst="rect">
            <a:avLst/>
          </a:prstGeom>
          <a:solidFill>
            <a:srgbClr val="0A8A8A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19202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2137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Admin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26480" y="254203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statistics dashboard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305409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users &amp; roles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2648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blockchain integrity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407822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audit logs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D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A8A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Core Security Questions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8B8"/>
                </a:solidFill>
              </a:rPr>
              <a:t>Every sensitive action is evaluated against four questions: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731520"/>
          </a:xfrm>
          <a:prstGeom prst="rect">
            <a:avLst/>
          </a:prstGeom>
          <a:solidFill>
            <a:srgbClr val="122D4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685800" cy="731520"/>
          </a:xfrm>
          <a:prstGeom prst="rect">
            <a:avLst/>
          </a:prstGeom>
          <a:solidFill>
            <a:srgbClr val="0A8A8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08760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536192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Who is this user?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856232"/>
            <a:ext cx="722376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B8B8"/>
                </a:solidFill>
              </a:rPr>
              <a:t>Identity verified via bcrypt passwords + JWT tokens + TOTP MFA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8229600" cy="731520"/>
          </a:xfrm>
          <a:prstGeom prst="rect">
            <a:avLst/>
          </a:prstGeom>
          <a:solidFill>
            <a:srgbClr val="122D4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59152"/>
            <a:ext cx="685800" cy="731520"/>
          </a:xfrm>
          <a:prstGeom prst="rect">
            <a:avLst/>
          </a:prstGeom>
          <a:solidFill>
            <a:srgbClr val="02C4B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59152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386584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Are they allowed?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706624"/>
            <a:ext cx="722376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B8B8"/>
                </a:solidFill>
              </a:rPr>
              <a:t>Role-Based Access Control (Patient / Doctor / Admin) restricts every endpoint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09544"/>
            <a:ext cx="8229600" cy="731520"/>
          </a:xfrm>
          <a:prstGeom prst="rect">
            <a:avLst/>
          </a:prstGeom>
          <a:solidFill>
            <a:srgbClr val="122D4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09544"/>
            <a:ext cx="68580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09544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236976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Has the patient consented?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557016"/>
            <a:ext cx="722376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B8B8"/>
                </a:solidFill>
              </a:rPr>
              <a:t>Patient explicitly grants per-doctor, per-record, time-limited consent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59936"/>
            <a:ext cx="8229600" cy="731520"/>
          </a:xfrm>
          <a:prstGeom prst="rect">
            <a:avLst/>
          </a:prstGeom>
          <a:solidFill>
            <a:srgbClr val="122D4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059936"/>
            <a:ext cx="685800" cy="73152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059936"/>
            <a:ext cx="685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137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4087368"/>
            <a:ext cx="2560320" cy="3383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Can we prove access happened?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4407408"/>
            <a:ext cx="722376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FB8B8"/>
                </a:solidFill>
              </a:rPr>
              <a:t>Tamper-evident SHA-256 audit chain records every sensitive action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D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A8A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Login Security – Proving Who You 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0A8A8A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Email + Password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7"/>
                </a:solidFill>
              </a:rPr>
              <a:t>Sent to server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67128" y="1755648"/>
            <a:ext cx="329184" cy="0"/>
          </a:xfrm>
          <a:prstGeom prst="line">
            <a:avLst/>
          </a:prstGeom>
          <a:noFill/>
          <a:ln w="31750">
            <a:solidFill>
              <a:srgbClr val="02C4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04872" y="16367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4B0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37160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0A8A8A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bcrypt verify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7"/>
                </a:solidFill>
              </a:rPr>
              <a:t>Hash comparison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61688" y="1755648"/>
            <a:ext cx="329184" cy="0"/>
          </a:xfrm>
          <a:prstGeom prst="line">
            <a:avLst/>
          </a:prstGeom>
          <a:noFill/>
          <a:ln w="31750">
            <a:solidFill>
              <a:srgbClr val="02C4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6367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4B0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37160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0A8A8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Issue Tokens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7"/>
                </a:solidFill>
              </a:rPr>
              <a:t>Access + Refresh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56248" y="1755648"/>
            <a:ext cx="329184" cy="0"/>
          </a:xfrm>
          <a:prstGeom prst="line">
            <a:avLst/>
          </a:prstGeom>
          <a:noFill/>
          <a:ln w="31750">
            <a:solidFill>
              <a:srgbClr val="02C4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6367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4B0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137160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0A8A8A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Calls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372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7F7"/>
                </a:solidFill>
              </a:rPr>
              <a:t>Bearer token header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4B0"/>
                </a:solidFill>
              </a:rPr>
              <a:t>Two Tokens Issued: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3931920" cy="1645920"/>
          </a:xfrm>
          <a:prstGeom prst="rect">
            <a:avLst/>
          </a:prstGeom>
          <a:solidFill>
            <a:srgbClr val="122D44"/>
          </a:solidFill>
          <a:ln w="25400">
            <a:solidFill>
              <a:srgbClr val="0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880360"/>
            <a:ext cx="3931920" cy="411480"/>
          </a:xfrm>
          <a:prstGeom prst="rect">
            <a:avLst/>
          </a:prstGeom>
          <a:solidFill>
            <a:srgbClr val="0A8A8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880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Access Token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4B0"/>
                </a:solidFill>
              </a:rPr>
              <a:t>Lifetime: 15 minutes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3749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B8"/>
                </a:solidFill>
              </a:rPr>
              <a:t>Used for all API calls. Short-lived so stolen tokens expire quickly.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880360"/>
            <a:ext cx="3931920" cy="1645920"/>
          </a:xfrm>
          <a:prstGeom prst="rect">
            <a:avLst/>
          </a:prstGeom>
          <a:solidFill>
            <a:srgbClr val="122D44"/>
          </a:solidFill>
          <a:ln w="25400">
            <a:solidFill>
              <a:srgbClr val="02C4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880360"/>
            <a:ext cx="3931920" cy="411480"/>
          </a:xfrm>
          <a:prstGeom prst="rect">
            <a:avLst/>
          </a:prstGeom>
          <a:solidFill>
            <a:srgbClr val="02C4B0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880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Refresh Token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4B0"/>
                </a:solidFill>
              </a:rPr>
              <a:t>Lifetime: 7 days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3749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B8"/>
                </a:solidFill>
              </a:rPr>
              <a:t>Used only to get a new access token when the old one expires.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D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Multi-Factor Authentication (MFA)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8B8"/>
                </a:solidFill>
              </a:rPr>
              <a:t>Required for Doctors and Admins. A stolen password alone is not enough.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2286000"/>
            <a:ext cx="1463040" cy="777240"/>
          </a:xfrm>
          <a:prstGeom prst="rect">
            <a:avLst/>
          </a:prstGeom>
          <a:solidFill>
            <a:srgbClr val="122D44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Enter Password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651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B8B8"/>
                </a:solidFill>
              </a:rPr>
              <a:t>User submits email + password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09928" y="1828800"/>
            <a:ext cx="256032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508760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231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965960" y="2286000"/>
            <a:ext cx="1463040" cy="777240"/>
          </a:xfrm>
          <a:prstGeom prst="rect">
            <a:avLst/>
          </a:prstGeom>
          <a:solidFill>
            <a:srgbClr val="122D44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965960" y="224942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Temp Token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65960" y="25786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B8B8"/>
                </a:solidFill>
              </a:rPr>
              <a:t>Server returns mfaRequired: true + temp token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47288" y="1828800"/>
            <a:ext cx="256032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0520" y="1508760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605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03320" y="2286000"/>
            <a:ext cx="1463040" cy="777240"/>
          </a:xfrm>
          <a:prstGeom prst="rect">
            <a:avLst/>
          </a:prstGeom>
          <a:solidFill>
            <a:srgbClr val="122D44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0332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OTP Code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03320" y="2651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B8B8"/>
                </a:solidFill>
              </a:rPr>
              <a:t>User reads 6-digit code from authenticator app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84648" y="1828800"/>
            <a:ext cx="256032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1508760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978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40680" y="2286000"/>
            <a:ext cx="1463040" cy="777240"/>
          </a:xfrm>
          <a:prstGeom prst="rect">
            <a:avLst/>
          </a:prstGeom>
          <a:solidFill>
            <a:srgbClr val="122D44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4068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Verify TOTP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40680" y="2651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B8B8"/>
                </a:solidFill>
              </a:rPr>
              <a:t>Server checks code against shared secret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22008" y="1828800"/>
            <a:ext cx="256032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35240" y="1508760"/>
            <a:ext cx="640080" cy="640080"/>
          </a:xfrm>
          <a:prstGeom prst="ellipse">
            <a:avLst/>
          </a:prstGeom>
          <a:solidFill>
            <a:srgbClr val="02C4B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352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178040" y="2286000"/>
            <a:ext cx="1463040" cy="777240"/>
          </a:xfrm>
          <a:prstGeom prst="rect">
            <a:avLst/>
          </a:prstGeom>
          <a:solidFill>
            <a:srgbClr val="122D44"/>
          </a:solidFill>
          <a:ln w="12700">
            <a:solidFill>
              <a:srgbClr val="02C4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17804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Full JWT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78040" y="2651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B8B8"/>
                </a:solidFill>
              </a:rPr>
              <a:t>Access + Refresh tokens issued on success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246120"/>
            <a:ext cx="8229600" cy="1508760"/>
          </a:xfrm>
          <a:prstGeom prst="rect">
            <a:avLst/>
          </a:prstGeom>
          <a:solidFill>
            <a:srgbClr val="122D44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246120"/>
            <a:ext cx="91440" cy="1508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3352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How TOTP Works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1520" y="3508248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• </a:t>
            </a:r>
            <a:r>
              <a:rPr lang="en-US" sz="1200" dirty="0">
                <a:solidFill>
                  <a:srgbClr val="FFFFFF"/>
                </a:solidFill>
              </a:rPr>
              <a:t>Phone + server share a secret key at setup (QR code scan)
</a:t>
            </a:r>
            <a:r>
              <a:rPr lang="en-US" sz="1200" b="1" dirty="0">
                <a:solidFill>
                  <a:srgbClr val="FFFFFF"/>
                </a:solidFill>
              </a:rPr>
              <a:t>• </a:t>
            </a:r>
            <a:r>
              <a:rPr lang="en-US" sz="1200" dirty="0">
                <a:solidFill>
                  <a:srgbClr val="FFFFFF"/>
                </a:solidFill>
              </a:rPr>
              <a:t>Both independently compute a 6-digit code from the current time (30-second windows)
</a:t>
            </a:r>
            <a:r>
              <a:rPr lang="en-US" sz="1200" b="1" dirty="0">
                <a:solidFill>
                  <a:srgbClr val="FFFFFF"/>
                </a:solidFill>
              </a:rPr>
              <a:t>• </a:t>
            </a:r>
            <a:r>
              <a:rPr lang="en-US" sz="1200" dirty="0">
                <a:solidFill>
                  <a:srgbClr val="FFFFFF"/>
                </a:solidFill>
              </a:rPr>
              <a:t>If codes match → access granted. Attacker needs both password AND physical device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D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2C4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Record Encryption – AES-256-GCM Envelope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4B0"/>
                </a:solidFill>
              </a:rPr>
              <a:t>Encryption 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502920" cy="502920"/>
          </a:xfrm>
          <a:prstGeom prst="ellipse">
            <a:avLst/>
          </a:prstGeom>
          <a:solidFill>
            <a:srgbClr val="0A8A8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Random DEK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85623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B8"/>
                </a:solidFill>
              </a:rPr>
              <a:t>32-byte Data Encryption Key generated per record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2075688"/>
            <a:ext cx="0" cy="237744"/>
          </a:xfrm>
          <a:prstGeom prst="line">
            <a:avLst/>
          </a:prstGeom>
          <a:noFill/>
          <a:ln w="25400">
            <a:solidFill>
              <a:srgbClr val="0A8A8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0A8A8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313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Encrypt Record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6609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B8"/>
                </a:solidFill>
              </a:rPr>
              <a:t>AES-256-GCM encrypts data → ciphertext + IV + auth tag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" y="2880360"/>
            <a:ext cx="0" cy="237744"/>
          </a:xfrm>
          <a:prstGeom prst="line">
            <a:avLst/>
          </a:prstGeom>
          <a:noFill/>
          <a:ln w="25400">
            <a:solidFill>
              <a:srgbClr val="0A8A8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57200" y="3182112"/>
            <a:ext cx="502920" cy="502920"/>
          </a:xfrm>
          <a:prstGeom prst="ellipse">
            <a:avLst/>
          </a:prstGeom>
          <a:solidFill>
            <a:srgbClr val="0A8A8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1181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Encrypt DEK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4655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B8"/>
                </a:solidFill>
              </a:rPr>
              <a:t>Master key (from env) encrypts the DEK → stored in DB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" y="3685032"/>
            <a:ext cx="0" cy="237744"/>
          </a:xfrm>
          <a:prstGeom prst="line">
            <a:avLst/>
          </a:prstGeom>
          <a:noFill/>
          <a:ln w="25400">
            <a:solidFill>
              <a:srgbClr val="0A8A8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57200" y="3986784"/>
            <a:ext cx="502920" cy="502920"/>
          </a:xfrm>
          <a:prstGeom prst="ellipse">
            <a:avLst/>
          </a:prstGeom>
          <a:solidFill>
            <a:srgbClr val="0A8A8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9227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Discard DEK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2702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B8"/>
                </a:solidFill>
              </a:rPr>
              <a:t>Raw DEK wiped from memory – never stored in plaintext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20640" y="1051560"/>
            <a:ext cx="3657600" cy="3749040"/>
          </a:xfrm>
          <a:prstGeom prst="rect">
            <a:avLst/>
          </a:prstGeom>
          <a:solidFill>
            <a:srgbClr val="122D44"/>
          </a:solidFill>
          <a:ln w="25400">
            <a:solidFill>
              <a:srgbClr val="02C4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03520" y="1143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4B0"/>
                </a:solidFill>
              </a:rPr>
              <a:t>Why AES-256-GCM?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🔐 Confidentiality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2011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B8"/>
                </a:solidFill>
              </a:rPr>
              <a:t>256-bit key makes brute force infeasible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2468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Integrity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27889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B8"/>
                </a:solidFill>
              </a:rPr>
              <a:t>Auth tag detects any tampering during decryption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Envelope model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B8"/>
                </a:solidFill>
              </a:rPr>
              <a:t>Each record has its own key — one leak ≠ all records exposed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4023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🔑 Master key isolation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4343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B8"/>
                </a:solidFill>
              </a:rPr>
              <a:t>lives in env vars, not in the database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D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Patient Consent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B8B8"/>
                </a:solidFill>
              </a:rPr>
              <a:t>Even </a:t>
            </a:r>
            <a:r>
              <a:rPr lang="en-US" sz="1300" dirty="0">
                <a:solidFill>
                  <a:srgbClr val="8FB8B8"/>
                </a:solidFill>
                <a:highlight>
                  <a:srgbClr val="FFFF00"/>
                </a:highlight>
              </a:rPr>
              <a:t> </a:t>
            </a:r>
            <a:r>
              <a:rPr lang="en-US" sz="1300" dirty="0">
                <a:highlight>
                  <a:srgbClr val="FFFF00"/>
                </a:highlight>
              </a:rPr>
              <a:t>authenticated doctors </a:t>
            </a:r>
            <a:r>
              <a:rPr lang="en-US" sz="1300" dirty="0">
                <a:solidFill>
                  <a:srgbClr val="8FB8B8"/>
                </a:solidFill>
              </a:rPr>
              <a:t>CANNOT access records without explicit patient consent.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1097280" cy="1097280"/>
          </a:xfrm>
          <a:prstGeom prst="ellipse">
            <a:avLst/>
          </a:prstGeom>
          <a:solidFill>
            <a:srgbClr val="0A8A8A">
              <a:alpha val="80000"/>
            </a:srgbClr>
          </a:solidFill>
          <a:ln w="25400">
            <a:solidFill>
              <a:srgbClr val="0A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Patient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Uploads Record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65960" y="2057400"/>
            <a:ext cx="594360" cy="0"/>
          </a:xfrm>
          <a:prstGeom prst="line">
            <a:avLst/>
          </a:prstGeom>
          <a:noFill/>
          <a:ln w="25400">
            <a:solidFill>
              <a:srgbClr val="8FB8B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926080" y="1508760"/>
            <a:ext cx="1097280" cy="1097280"/>
          </a:xfrm>
          <a:prstGeom prst="ellipse">
            <a:avLst/>
          </a:prstGeom>
          <a:solidFill>
            <a:srgbClr val="E05252">
              <a:alpha val="80000"/>
            </a:srgbClr>
          </a:solidFill>
          <a:ln w="25400">
            <a:solidFill>
              <a:srgbClr val="E0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508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2697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Record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Locked by Default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69080" y="2057400"/>
            <a:ext cx="594360" cy="0"/>
          </a:xfrm>
          <a:prstGeom prst="line">
            <a:avLst/>
          </a:prstGeom>
          <a:noFill/>
          <a:ln w="25400">
            <a:solidFill>
              <a:srgbClr val="8FB8B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029200" y="1508760"/>
            <a:ext cx="1097280" cy="1097280"/>
          </a:xfrm>
          <a:prstGeom prst="ellipse">
            <a:avLst/>
          </a:prstGeom>
          <a:solidFill>
            <a:srgbClr val="F59E0B">
              <a:alpha val="8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508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2697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Patient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Grants Consent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2057400"/>
            <a:ext cx="594360" cy="0"/>
          </a:xfrm>
          <a:prstGeom prst="line">
            <a:avLst/>
          </a:prstGeom>
          <a:noFill/>
          <a:ln w="25400">
            <a:solidFill>
              <a:srgbClr val="8FB8B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132320" y="1508760"/>
            <a:ext cx="1097280" cy="1097280"/>
          </a:xfrm>
          <a:prstGeom prst="ellipse">
            <a:avLst/>
          </a:prstGeom>
          <a:solidFill>
            <a:srgbClr val="02C4B0">
              <a:alpha val="80000"/>
            </a:srgbClr>
          </a:solidFill>
          <a:ln w="25400">
            <a:solidFill>
              <a:srgbClr val="02C4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1508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🩺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66560" y="2697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Doctor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Can Now View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Consent Rules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3931920" cy="475488"/>
          </a:xfrm>
          <a:prstGeom prst="rect">
            <a:avLst/>
          </a:prstGeom>
          <a:solidFill>
            <a:srgbClr val="122D44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384048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Scope: 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63040" y="384048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Per-record or all records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840480"/>
            <a:ext cx="3931920" cy="475488"/>
          </a:xfrm>
          <a:prstGeom prst="rect">
            <a:avLst/>
          </a:prstGeom>
          <a:solidFill>
            <a:srgbClr val="122D44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840480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Duration: 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60720" y="384048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With or without expiry date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407408"/>
            <a:ext cx="3931920" cy="475488"/>
          </a:xfrm>
          <a:prstGeom prst="rect">
            <a:avLst/>
          </a:prstGeom>
          <a:solidFill>
            <a:srgbClr val="122D44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4407408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Revocable:  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63040" y="440740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Patient can revoke at any time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4407408"/>
            <a:ext cx="3931920" cy="475488"/>
          </a:xfrm>
          <a:prstGeom prst="rect">
            <a:avLst/>
          </a:prstGeom>
          <a:solidFill>
            <a:srgbClr val="122D44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92040" y="4407408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Server-enforced:  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60720" y="440740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Checked server-side on every request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D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A8A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Access Control: RBAC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911685" y="1005840"/>
            <a:ext cx="3122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8A8A"/>
                </a:solidFill>
              </a:rPr>
              <a:t>Role-Based Access Control (RBAC)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72105" y="1417320"/>
            <a:ext cx="2286000" cy="384048"/>
          </a:xfrm>
          <a:prstGeom prst="rect">
            <a:avLst/>
          </a:prstGeom>
          <a:solidFill>
            <a:srgbClr val="0A8A8A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72105" y="1417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</a:rPr>
              <a:t>Action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8105" y="1417320"/>
            <a:ext cx="822960" cy="384048"/>
          </a:xfrm>
          <a:prstGeom prst="rect">
            <a:avLst/>
          </a:prstGeom>
          <a:solidFill>
            <a:srgbClr val="0A8A8A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8105" y="14173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</a:rPr>
              <a:t>Patient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81065" y="1417320"/>
            <a:ext cx="822960" cy="384048"/>
          </a:xfrm>
          <a:prstGeom prst="rect">
            <a:avLst/>
          </a:prstGeom>
          <a:solidFill>
            <a:srgbClr val="0A8A8A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1065" y="14173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</a:rPr>
              <a:t>Doctor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04025" y="1417320"/>
            <a:ext cx="822960" cy="384048"/>
          </a:xfrm>
          <a:prstGeom prst="rect">
            <a:avLst/>
          </a:prstGeom>
          <a:solidFill>
            <a:srgbClr val="0A8A8A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04025" y="14173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</a:rPr>
              <a:t>Admin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72105" y="1801368"/>
            <a:ext cx="2286000" cy="384048"/>
          </a:xfrm>
          <a:prstGeom prst="rect">
            <a:avLst/>
          </a:prstGeom>
          <a:solidFill>
            <a:srgbClr val="163852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72105" y="1801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Upload records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8105" y="1801368"/>
            <a:ext cx="822960" cy="384048"/>
          </a:xfrm>
          <a:prstGeom prst="rect">
            <a:avLst/>
          </a:prstGeom>
          <a:solidFill>
            <a:srgbClr val="163852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8105" y="18013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DE97"/>
                </a:solidFill>
              </a:rPr>
              <a:t>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81065" y="1801368"/>
            <a:ext cx="822960" cy="384048"/>
          </a:xfrm>
          <a:prstGeom prst="rect">
            <a:avLst/>
          </a:prstGeom>
          <a:solidFill>
            <a:srgbClr val="163852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81065" y="18013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252"/>
                </a:solidFill>
              </a:rPr>
              <a:t>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04025" y="1801368"/>
            <a:ext cx="822960" cy="384048"/>
          </a:xfrm>
          <a:prstGeom prst="rect">
            <a:avLst/>
          </a:prstGeom>
          <a:solidFill>
            <a:srgbClr val="163852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04025" y="18013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252"/>
                </a:solidFill>
              </a:rPr>
              <a:t>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72105" y="2185416"/>
            <a:ext cx="2286000" cy="384048"/>
          </a:xfrm>
          <a:prstGeom prst="rect">
            <a:avLst/>
          </a:prstGeom>
          <a:solidFill>
            <a:srgbClr val="122D44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72105" y="21854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View own records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58105" y="2185416"/>
            <a:ext cx="822960" cy="384048"/>
          </a:xfrm>
          <a:prstGeom prst="rect">
            <a:avLst/>
          </a:prstGeom>
          <a:solidFill>
            <a:srgbClr val="122D44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58105" y="218541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DE97"/>
                </a:solidFill>
              </a:rPr>
              <a:t>✅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81065" y="2185416"/>
            <a:ext cx="822960" cy="384048"/>
          </a:xfrm>
          <a:prstGeom prst="rect">
            <a:avLst/>
          </a:prstGeom>
          <a:solidFill>
            <a:srgbClr val="122D44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81065" y="218541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—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04025" y="2185416"/>
            <a:ext cx="822960" cy="384048"/>
          </a:xfrm>
          <a:prstGeom prst="rect">
            <a:avLst/>
          </a:prstGeom>
          <a:solidFill>
            <a:srgbClr val="122D44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04025" y="218541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252"/>
                </a:solidFill>
              </a:rPr>
              <a:t>❌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72105" y="2569464"/>
            <a:ext cx="2286000" cy="384048"/>
          </a:xfrm>
          <a:prstGeom prst="rect">
            <a:avLst/>
          </a:prstGeom>
          <a:solidFill>
            <a:srgbClr val="163852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2105" y="25694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View patient records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58105" y="2569464"/>
            <a:ext cx="822960" cy="384048"/>
          </a:xfrm>
          <a:prstGeom prst="rect">
            <a:avLst/>
          </a:prstGeom>
          <a:solidFill>
            <a:srgbClr val="163852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58105" y="25694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—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81065" y="2569464"/>
            <a:ext cx="822960" cy="384048"/>
          </a:xfrm>
          <a:prstGeom prst="rect">
            <a:avLst/>
          </a:prstGeom>
          <a:solidFill>
            <a:srgbClr val="163852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1065" y="25694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✅ w/consent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04025" y="2569464"/>
            <a:ext cx="822960" cy="384048"/>
          </a:xfrm>
          <a:prstGeom prst="rect">
            <a:avLst/>
          </a:prstGeom>
          <a:solidFill>
            <a:srgbClr val="163852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04025" y="256946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252"/>
                </a:solidFill>
              </a:rPr>
              <a:t>❌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972105" y="2953512"/>
            <a:ext cx="2286000" cy="384048"/>
          </a:xfrm>
          <a:prstGeom prst="rect">
            <a:avLst/>
          </a:prstGeom>
          <a:solidFill>
            <a:srgbClr val="122D44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72105" y="29535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Grant/revoke consent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58105" y="2953512"/>
            <a:ext cx="822960" cy="384048"/>
          </a:xfrm>
          <a:prstGeom prst="rect">
            <a:avLst/>
          </a:prstGeom>
          <a:solidFill>
            <a:srgbClr val="122D44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58105" y="29535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DE97"/>
                </a:solidFill>
              </a:rPr>
              <a:t>✅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81065" y="2953512"/>
            <a:ext cx="822960" cy="384048"/>
          </a:xfrm>
          <a:prstGeom prst="rect">
            <a:avLst/>
          </a:prstGeom>
          <a:solidFill>
            <a:srgbClr val="122D44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81065" y="29535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252"/>
                </a:solidFill>
              </a:rPr>
              <a:t>❌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904025" y="2953512"/>
            <a:ext cx="822960" cy="384048"/>
          </a:xfrm>
          <a:prstGeom prst="rect">
            <a:avLst/>
          </a:prstGeom>
          <a:solidFill>
            <a:srgbClr val="122D44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04025" y="29535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252"/>
                </a:solidFill>
              </a:rPr>
              <a:t>❌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972105" y="3337560"/>
            <a:ext cx="2286000" cy="384048"/>
          </a:xfrm>
          <a:prstGeom prst="rect">
            <a:avLst/>
          </a:prstGeom>
          <a:solidFill>
            <a:srgbClr val="163852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72105" y="33375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Verify Hash-chain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258105" y="3337560"/>
            <a:ext cx="822960" cy="384048"/>
          </a:xfrm>
          <a:prstGeom prst="rect">
            <a:avLst/>
          </a:prstGeom>
          <a:solidFill>
            <a:srgbClr val="163852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58105" y="33375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252"/>
                </a:solidFill>
              </a:rPr>
              <a:t>❌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81065" y="3337560"/>
            <a:ext cx="822960" cy="384048"/>
          </a:xfrm>
          <a:prstGeom prst="rect">
            <a:avLst/>
          </a:prstGeom>
          <a:solidFill>
            <a:srgbClr val="163852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81065" y="33375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252"/>
                </a:solidFill>
              </a:rPr>
              <a:t>❌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904025" y="3337560"/>
            <a:ext cx="822960" cy="384048"/>
          </a:xfrm>
          <a:prstGeom prst="rect">
            <a:avLst/>
          </a:prstGeom>
          <a:solidFill>
            <a:srgbClr val="163852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04025" y="33375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DE97"/>
                </a:solidFill>
              </a:rPr>
              <a:t>✅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972105" y="3721608"/>
            <a:ext cx="2286000" cy="384048"/>
          </a:xfrm>
          <a:prstGeom prst="rect">
            <a:avLst/>
          </a:prstGeom>
          <a:solidFill>
            <a:srgbClr val="122D44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72105" y="37216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Manage users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258105" y="3721608"/>
            <a:ext cx="822960" cy="384048"/>
          </a:xfrm>
          <a:prstGeom prst="rect">
            <a:avLst/>
          </a:prstGeom>
          <a:solidFill>
            <a:srgbClr val="122D44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58105" y="37216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252"/>
                </a:solidFill>
              </a:rPr>
              <a:t>❌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081065" y="3721608"/>
            <a:ext cx="822960" cy="384048"/>
          </a:xfrm>
          <a:prstGeom prst="rect">
            <a:avLst/>
          </a:prstGeom>
          <a:solidFill>
            <a:srgbClr val="122D44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81065" y="37216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5252"/>
                </a:solidFill>
              </a:rPr>
              <a:t>❌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904025" y="3721608"/>
            <a:ext cx="822960" cy="384048"/>
          </a:xfrm>
          <a:prstGeom prst="rect">
            <a:avLst/>
          </a:prstGeom>
          <a:solidFill>
            <a:srgbClr val="122D44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04025" y="37216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BDE97"/>
                </a:solidFill>
              </a:rPr>
              <a:t>✅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D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2C4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Audit Logging &amp; Tamper-Evident Chain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4B0"/>
                </a:solidFill>
              </a:rPr>
              <a:t>What Gets Logged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57600" cy="438912"/>
          </a:xfrm>
          <a:prstGeom prst="rect">
            <a:avLst/>
          </a:prstGeom>
          <a:solidFill>
            <a:srgbClr val="122D44"/>
          </a:solidFill>
          <a:ln w="12700">
            <a:solidFill>
              <a:srgbClr val="02C4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⬤  Login / logout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3657600" cy="438912"/>
          </a:xfrm>
          <a:prstGeom prst="rect">
            <a:avLst/>
          </a:prstGeom>
          <a:solidFill>
            <a:srgbClr val="122D44"/>
          </a:solidFill>
          <a:ln w="12700">
            <a:solidFill>
              <a:srgbClr val="02C4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9339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⬤  Record upload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23744"/>
            <a:ext cx="3657600" cy="438912"/>
          </a:xfrm>
          <a:prstGeom prst="rect">
            <a:avLst/>
          </a:prstGeom>
          <a:solidFill>
            <a:srgbClr val="122D44"/>
          </a:solidFill>
          <a:ln w="12700">
            <a:solidFill>
              <a:srgbClr val="02C4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2374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⬤  Record view / download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54096"/>
            <a:ext cx="3657600" cy="438912"/>
          </a:xfrm>
          <a:prstGeom prst="rect">
            <a:avLst/>
          </a:prstGeom>
          <a:solidFill>
            <a:srgbClr val="122D44"/>
          </a:solidFill>
          <a:ln w="12700">
            <a:solidFill>
              <a:srgbClr val="02C4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5409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⬤  Consent granted / revoked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84448"/>
            <a:ext cx="3657600" cy="438912"/>
          </a:xfrm>
          <a:prstGeom prst="rect">
            <a:avLst/>
          </a:prstGeom>
          <a:solidFill>
            <a:srgbClr val="122D44"/>
          </a:solidFill>
          <a:ln w="12700">
            <a:solidFill>
              <a:srgbClr val="02C4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58444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⬤  Record deletion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B8B8"/>
                </a:solidFill>
              </a:rPr>
              <a:t>Each log captures: User • Record • Timestamp • IP • Action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4B0"/>
                </a:solidFill>
              </a:rPr>
              <a:t>SHA-256 Hash Chain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508760"/>
            <a:ext cx="1280160" cy="1097280"/>
          </a:xfrm>
          <a:prstGeom prst="rect">
            <a:avLst/>
          </a:prstGeom>
          <a:solidFill>
            <a:srgbClr val="122D44"/>
          </a:solidFill>
          <a:ln w="25400">
            <a:solidFill>
              <a:srgbClr val="0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508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4B0"/>
                </a:solidFill>
              </a:rPr>
              <a:t>Block 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7830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B8B8"/>
                </a:solidFill>
              </a:rPr>
              <a:t>prev: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FB8B8"/>
                </a:solidFill>
              </a:rPr>
              <a:t>0000...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46320" y="2194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</a:rPr>
              <a:t>hash: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</a:rPr>
              <a:t>a3f8...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126480" y="2057400"/>
            <a:ext cx="182880" cy="0"/>
          </a:xfrm>
          <a:prstGeom prst="line">
            <a:avLst/>
          </a:prstGeom>
          <a:noFill/>
          <a:ln w="25400">
            <a:solidFill>
              <a:srgbClr val="0A8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193852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8A8A"/>
                </a:solidFill>
              </a:rPr>
              <a:t>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1508760"/>
            <a:ext cx="1280160" cy="1097280"/>
          </a:xfrm>
          <a:prstGeom prst="rect">
            <a:avLst/>
          </a:prstGeom>
          <a:solidFill>
            <a:srgbClr val="122D44"/>
          </a:solidFill>
          <a:ln w="25400">
            <a:solidFill>
              <a:srgbClr val="0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1508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4B0"/>
                </a:solidFill>
              </a:rPr>
              <a:t>Block 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17830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B8B8"/>
                </a:solidFill>
              </a:rPr>
              <a:t>prev: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FB8B8"/>
                </a:solidFill>
              </a:rPr>
              <a:t>a3f8...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09360" y="2194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</a:rPr>
              <a:t>hash: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</a:rPr>
              <a:t>9c2d...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589520" y="2057400"/>
            <a:ext cx="182880" cy="0"/>
          </a:xfrm>
          <a:prstGeom prst="line">
            <a:avLst/>
          </a:prstGeom>
          <a:noFill/>
          <a:ln w="25400">
            <a:solidFill>
              <a:srgbClr val="0A8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26096" y="193852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8A8A"/>
                </a:solidFill>
              </a:rPr>
              <a:t>→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0" y="1508760"/>
            <a:ext cx="1280160" cy="1097280"/>
          </a:xfrm>
          <a:prstGeom prst="rect">
            <a:avLst/>
          </a:prstGeom>
          <a:solidFill>
            <a:srgbClr val="122D44"/>
          </a:solidFill>
          <a:ln w="25400">
            <a:solidFill>
              <a:srgbClr val="0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0" y="1508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4B0"/>
                </a:solidFill>
              </a:rPr>
              <a:t>Block 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0" y="17830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B8B8"/>
                </a:solidFill>
              </a:rPr>
              <a:t>prev: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FB8B8"/>
                </a:solidFill>
              </a:rPr>
              <a:t>9c2d...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772400" y="2194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</a:rPr>
              <a:t>hash: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</a:rPr>
              <a:t>f1e7...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46320" y="2743200"/>
            <a:ext cx="4023360" cy="1371600"/>
          </a:xfrm>
          <a:prstGeom prst="rect">
            <a:avLst/>
          </a:prstGeom>
          <a:solidFill>
            <a:srgbClr val="122D44"/>
          </a:solidFill>
          <a:ln w="25400">
            <a:solidFill>
              <a:srgbClr val="E052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743200"/>
            <a:ext cx="4023360" cy="36576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2743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Tamper Detection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37760" y="318211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If Block #2 is modified → its hash changes → Block #3's previousHash no longer matches → verifyChain() fails → tamper detected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4206240"/>
            <a:ext cx="4023360" cy="548640"/>
          </a:xfrm>
          <a:prstGeom prst="rect">
            <a:avLst/>
          </a:prstGeom>
          <a:solidFill>
            <a:srgbClr val="122D44"/>
          </a:solidFill>
          <a:ln w="12700">
            <a:solidFill>
              <a:srgbClr val="8FB8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42336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B8B8"/>
                </a:solidFill>
              </a:rPr>
              <a:t>Note: This is an internal hash chain – not a decentralized blockchain. Provides tamper evidence, not public consensus.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D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A8A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API Hardening &amp; File Upload Security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8A8A"/>
                </a:solidFill>
              </a:rPr>
              <a:t>Security Middleware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114800" cy="457200"/>
          </a:xfrm>
          <a:prstGeom prst="rect">
            <a:avLst/>
          </a:prstGeom>
          <a:solidFill>
            <a:srgbClr val="122D44"/>
          </a:solidFill>
          <a:ln w="12700">
            <a:solidFill>
              <a:srgbClr val="0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630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helmet()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Safer HTTP headers (CSP, HSTS)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114800" cy="457200"/>
          </a:xfrm>
          <a:prstGeom prst="rect">
            <a:avLst/>
          </a:prstGeom>
          <a:solidFill>
            <a:srgbClr val="122D44"/>
          </a:solidFill>
          <a:ln w="12700">
            <a:solidFill>
              <a:srgbClr val="0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901952"/>
            <a:ext cx="0" cy="109728"/>
          </a:xfrm>
          <a:prstGeom prst="line">
            <a:avLst/>
          </a:prstGeom>
          <a:noFill/>
          <a:ln w="12700">
            <a:solidFill>
              <a:srgbClr val="0A8A8A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94360" y="20116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cors()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Restricts allowed frontend origins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4114800" cy="457200"/>
          </a:xfrm>
          <a:prstGeom prst="rect">
            <a:avLst/>
          </a:prstGeom>
          <a:solidFill>
            <a:srgbClr val="122D44"/>
          </a:solidFill>
          <a:ln w="12700">
            <a:solidFill>
              <a:srgbClr val="0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2450592"/>
            <a:ext cx="0" cy="109728"/>
          </a:xfrm>
          <a:prstGeom prst="line">
            <a:avLst/>
          </a:prstGeom>
          <a:noFill/>
          <a:ln w="12700">
            <a:solidFill>
              <a:srgbClr val="0A8A8A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594360" y="2560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rateLimit()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100 req / 15 min per IP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4114800" cy="457200"/>
          </a:xfrm>
          <a:prstGeom prst="rect">
            <a:avLst/>
          </a:prstGeom>
          <a:solidFill>
            <a:srgbClr val="163852"/>
          </a:solidFill>
          <a:ln w="12700">
            <a:solidFill>
              <a:srgbClr val="0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2999232"/>
            <a:ext cx="0" cy="109728"/>
          </a:xfrm>
          <a:prstGeom prst="line">
            <a:avLst/>
          </a:prstGeom>
          <a:noFill/>
          <a:ln w="12700">
            <a:solidFill>
              <a:srgbClr val="0A8A8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94360" y="31089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JWT token verification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4114800" cy="457200"/>
          </a:xfrm>
          <a:prstGeom prst="rect">
            <a:avLst/>
          </a:prstGeom>
          <a:solidFill>
            <a:srgbClr val="163852"/>
          </a:solidFill>
          <a:ln w="12700">
            <a:solidFill>
              <a:srgbClr val="0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3547872"/>
            <a:ext cx="0" cy="109728"/>
          </a:xfrm>
          <a:prstGeom prst="line">
            <a:avLst/>
          </a:prstGeom>
          <a:noFill/>
          <a:ln w="12700">
            <a:solidFill>
              <a:srgbClr val="0A8A8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3657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rbac()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Role authorization check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4114800" cy="457200"/>
          </a:xfrm>
          <a:prstGeom prst="rect">
            <a:avLst/>
          </a:prstGeom>
          <a:solidFill>
            <a:srgbClr val="163852"/>
          </a:solidFill>
          <a:ln w="12700">
            <a:solidFill>
              <a:srgbClr val="0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4096512"/>
            <a:ext cx="0" cy="109728"/>
          </a:xfrm>
          <a:prstGeom prst="line">
            <a:avLst/>
          </a:prstGeom>
          <a:noFill/>
          <a:ln w="12700">
            <a:solidFill>
              <a:srgbClr val="0A8A8A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594360" y="4206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consentCheck()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9456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Active consent verification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1005840"/>
            <a:ext cx="3840480" cy="3767328"/>
          </a:xfrm>
          <a:prstGeom prst="rect">
            <a:avLst/>
          </a:prstGeom>
          <a:solidFill>
            <a:srgbClr val="122D44"/>
          </a:solidFill>
          <a:ln w="25400">
            <a:solidFill>
              <a:srgbClr val="02C4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12064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4B0"/>
                </a:solidFill>
              </a:rPr>
              <a:t>File Upload Security (Multer)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120640" y="1600200"/>
            <a:ext cx="3474720" cy="530352"/>
          </a:xfrm>
          <a:prstGeom prst="rect">
            <a:avLst/>
          </a:prstGeom>
          <a:solidFill>
            <a:srgbClr val="0D2137"/>
          </a:solidFill>
          <a:ln w="12700">
            <a:solidFill>
              <a:srgbClr val="0A8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17588" y="160020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Upload cap enforced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20640" y="2221992"/>
            <a:ext cx="3474720" cy="530352"/>
          </a:xfrm>
          <a:prstGeom prst="rect">
            <a:avLst/>
          </a:prstGeom>
          <a:solidFill>
            <a:srgbClr val="0D2137"/>
          </a:solidFill>
          <a:ln w="12700">
            <a:solidFill>
              <a:srgbClr val="0A8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6721" y="2221992"/>
            <a:ext cx="365119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Only safe file types accepted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120640" y="2843784"/>
            <a:ext cx="3474720" cy="530352"/>
          </a:xfrm>
          <a:prstGeom prst="rect">
            <a:avLst/>
          </a:prstGeom>
          <a:solidFill>
            <a:srgbClr val="0D2137"/>
          </a:solidFill>
          <a:ln w="12700">
            <a:solidFill>
              <a:srgbClr val="0A8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14" y="2843784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File encrypted before touching disk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120640" y="3465576"/>
            <a:ext cx="3474720" cy="530352"/>
          </a:xfrm>
          <a:prstGeom prst="rect">
            <a:avLst/>
          </a:prstGeom>
          <a:solidFill>
            <a:srgbClr val="0D2137"/>
          </a:solidFill>
          <a:ln w="12700">
            <a:solidFill>
              <a:srgbClr val="0A8A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6721" y="3465576"/>
            <a:ext cx="365119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Raw upload deleted immediately after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120640" y="4087368"/>
            <a:ext cx="3474720" cy="530352"/>
          </a:xfrm>
          <a:prstGeom prst="rect">
            <a:avLst/>
          </a:prstGeom>
          <a:solidFill>
            <a:srgbClr val="0D2137"/>
          </a:solidFill>
          <a:ln w="12700">
            <a:solidFill>
              <a:srgbClr val="0A8A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6721" y="4087368"/>
            <a:ext cx="365119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IV + auth tag + encrypted DEK in Postgres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D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End-to-End: Doctor Accessing a Record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965960" cy="1554480"/>
          </a:xfrm>
          <a:prstGeom prst="rect">
            <a:avLst/>
          </a:prstGeom>
          <a:solidFill>
            <a:srgbClr val="122D44"/>
          </a:solidFill>
          <a:ln w="25400">
            <a:solidFill>
              <a:srgbClr val="0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143000"/>
            <a:ext cx="594360" cy="594360"/>
          </a:xfrm>
          <a:prstGeom prst="ellipse">
            <a:avLst/>
          </a:prstGeom>
          <a:solidFill>
            <a:srgbClr val="0A8A8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013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Patient Upload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B8B8"/>
                </a:solidFill>
              </a:rPr>
              <a:t>Backend encrypts record with AES-256-GCM before saving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58568" y="1828800"/>
            <a:ext cx="182880" cy="0"/>
          </a:xfrm>
          <a:prstGeom prst="line">
            <a:avLst/>
          </a:prstGeom>
          <a:noFill/>
          <a:ln w="19050">
            <a:solidFill>
              <a:srgbClr val="8FB8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1051560"/>
            <a:ext cx="1965960" cy="1554480"/>
          </a:xfrm>
          <a:prstGeom prst="rect">
            <a:avLst/>
          </a:prstGeom>
          <a:solidFill>
            <a:srgbClr val="122D44"/>
          </a:solidFill>
          <a:ln w="25400">
            <a:solidFill>
              <a:srgbClr val="0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36392" y="1143000"/>
            <a:ext cx="594360" cy="594360"/>
          </a:xfrm>
          <a:prstGeom prst="ellipse">
            <a:avLst/>
          </a:prstGeom>
          <a:solidFill>
            <a:srgbClr val="0A8A8A"/>
          </a:solidFill>
          <a:ln/>
        </p:spPr>
      </p:sp>
      <p:sp>
        <p:nvSpPr>
          <p:cNvPr id="13" name="Text 11"/>
          <p:cNvSpPr/>
          <p:nvPr/>
        </p:nvSpPr>
        <p:spPr>
          <a:xfrm>
            <a:off x="3136392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50592" y="18013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Stored Encrypted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21488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B8B8"/>
                </a:solidFill>
              </a:rPr>
              <a:t>Ciphertext on disk, metadata in Postgres — unreadable by default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34840" y="1828800"/>
            <a:ext cx="182880" cy="0"/>
          </a:xfrm>
          <a:prstGeom prst="line">
            <a:avLst/>
          </a:prstGeom>
          <a:noFill/>
          <a:ln w="19050">
            <a:solidFill>
              <a:srgbClr val="8FB8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6864" y="1051560"/>
            <a:ext cx="1965960" cy="1554480"/>
          </a:xfrm>
          <a:prstGeom prst="rect">
            <a:avLst/>
          </a:prstGeom>
          <a:solidFill>
            <a:srgbClr val="122D44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12664" y="114300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312664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26864" y="18013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Consent Granted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18304" y="21488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B8B8"/>
                </a:solidFill>
              </a:rPr>
              <a:t>Patient explicitly grants doctor access (with optional expiry)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11112" y="1828800"/>
            <a:ext cx="182880" cy="0"/>
          </a:xfrm>
          <a:prstGeom prst="line">
            <a:avLst/>
          </a:prstGeom>
          <a:noFill/>
          <a:ln w="19050">
            <a:solidFill>
              <a:srgbClr val="8FB8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03136" y="1051560"/>
            <a:ext cx="1965960" cy="1554480"/>
          </a:xfrm>
          <a:prstGeom prst="rect">
            <a:avLst/>
          </a:prstGeom>
          <a:solidFill>
            <a:srgbClr val="122D44"/>
          </a:solidFill>
          <a:ln w="25400">
            <a:solidFill>
              <a:srgbClr val="02C4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88936" y="1143000"/>
            <a:ext cx="594360" cy="594360"/>
          </a:xfrm>
          <a:prstGeom prst="ellipse">
            <a:avLst/>
          </a:prstGeom>
          <a:solidFill>
            <a:srgbClr val="02C4B0"/>
          </a:solidFill>
          <a:ln/>
        </p:spPr>
      </p:sp>
      <p:sp>
        <p:nvSpPr>
          <p:cNvPr id="25" name="Text 23"/>
          <p:cNvSpPr/>
          <p:nvPr/>
        </p:nvSpPr>
        <p:spPr>
          <a:xfrm>
            <a:off x="7488936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03136" y="180136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Doctor Logs 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94576" y="21488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B8B8"/>
                </a:solidFill>
              </a:rPr>
              <a:t>Password verified + MFA TOTP code checked → JWT issued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971800"/>
            <a:ext cx="1965960" cy="1554480"/>
          </a:xfrm>
          <a:prstGeom prst="rect">
            <a:avLst/>
          </a:prstGeom>
          <a:solidFill>
            <a:srgbClr val="122D44"/>
          </a:solidFill>
          <a:ln w="25400">
            <a:solidFill>
              <a:srgbClr val="02C4B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60120" y="3063240"/>
            <a:ext cx="594360" cy="594360"/>
          </a:xfrm>
          <a:prstGeom prst="ellipse">
            <a:avLst/>
          </a:prstGeom>
          <a:solidFill>
            <a:srgbClr val="02C4B0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74320" y="37216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Request Record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40690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B8B8"/>
                </a:solidFill>
              </a:rPr>
              <a:t>JWT validated → Role checked → Consent verified → Attributes checked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58568" y="3749040"/>
            <a:ext cx="182880" cy="0"/>
          </a:xfrm>
          <a:prstGeom prst="line">
            <a:avLst/>
          </a:prstGeom>
          <a:noFill/>
          <a:ln w="19050">
            <a:solidFill>
              <a:srgbClr val="8FB8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50592" y="2971800"/>
            <a:ext cx="1965960" cy="1554480"/>
          </a:xfrm>
          <a:prstGeom prst="rect">
            <a:avLst/>
          </a:prstGeom>
          <a:solidFill>
            <a:srgbClr val="122D44"/>
          </a:solidFill>
          <a:ln w="25400">
            <a:solidFill>
              <a:srgbClr val="4BDE9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36392" y="3063240"/>
            <a:ext cx="594360" cy="594360"/>
          </a:xfrm>
          <a:prstGeom prst="ellipse">
            <a:avLst/>
          </a:prstGeom>
          <a:solidFill>
            <a:srgbClr val="4BDE97"/>
          </a:solidFill>
          <a:ln/>
        </p:spPr>
      </p:sp>
      <p:sp>
        <p:nvSpPr>
          <p:cNvPr id="36" name="Text 34"/>
          <p:cNvSpPr/>
          <p:nvPr/>
        </p:nvSpPr>
        <p:spPr>
          <a:xfrm>
            <a:off x="3136392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450592" y="37216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Decrypt &amp; Return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542032" y="40690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B8B8"/>
                </a:solidFill>
              </a:rPr>
              <a:t>Only now does backend decrypt and return the record to the doctor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3749040"/>
            <a:ext cx="182880" cy="0"/>
          </a:xfrm>
          <a:prstGeom prst="line">
            <a:avLst/>
          </a:prstGeom>
          <a:noFill/>
          <a:ln w="19050">
            <a:solidFill>
              <a:srgbClr val="8FB8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26864" y="2971800"/>
            <a:ext cx="1965960" cy="1554480"/>
          </a:xfrm>
          <a:prstGeom prst="rect">
            <a:avLst/>
          </a:prstGeom>
          <a:solidFill>
            <a:srgbClr val="122D44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312664" y="306324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5312664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</a:rPr>
              <a:t>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626864" y="372160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Audit Written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718304" y="40690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B8B8"/>
                </a:solidFill>
              </a:rPr>
              <a:t>Action logged with user, record, IP, timestamp → added to hash chain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D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A8A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Works Well &amp; Important Caveats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DE97"/>
                </a:solidFill>
              </a:rPr>
              <a:t>✅  Strengths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4114800" cy="384048"/>
          </a:xfrm>
          <a:prstGeom prst="rect">
            <a:avLst/>
          </a:prstGeom>
          <a:solidFill>
            <a:srgbClr val="122D44"/>
          </a:solidFill>
          <a:ln w="12700">
            <a:solidFill>
              <a:srgbClr val="4BDE9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594360" y="14447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Passwords hashed with </a:t>
            </a:r>
            <a:r>
              <a:rPr lang="en-US" sz="1100" dirty="0" err="1">
                <a:solidFill>
                  <a:srgbClr val="FFFFFF"/>
                </a:solidFill>
              </a:rPr>
              <a:t>bcrypt</a:t>
            </a:r>
            <a:r>
              <a:rPr lang="en-US" sz="1100" dirty="0">
                <a:solidFill>
                  <a:srgbClr val="FFFFFF"/>
                </a:solidFill>
              </a:rPr>
              <a:t> 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83664"/>
            <a:ext cx="4114800" cy="384048"/>
          </a:xfrm>
          <a:prstGeom prst="rect">
            <a:avLst/>
          </a:prstGeom>
          <a:solidFill>
            <a:srgbClr val="122D44"/>
          </a:solidFill>
          <a:ln w="12700">
            <a:solidFill>
              <a:srgbClr val="4BDE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8366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Doctors &amp; admins require MFA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4114800" cy="384048"/>
          </a:xfrm>
          <a:prstGeom prst="rect">
            <a:avLst/>
          </a:prstGeom>
          <a:solidFill>
            <a:srgbClr val="122D44"/>
          </a:solidFill>
          <a:ln w="12700">
            <a:solidFill>
              <a:srgbClr val="4BDE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2257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Records encrypted before storage (AES-256-GCM)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4114800" cy="384048"/>
          </a:xfrm>
          <a:prstGeom prst="rect">
            <a:avLst/>
          </a:prstGeom>
          <a:solidFill>
            <a:srgbClr val="122D44"/>
          </a:solidFill>
          <a:ln w="12700">
            <a:solidFill>
              <a:srgbClr val="4BDE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7614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Patient consent enforced server-side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114800" cy="384048"/>
          </a:xfrm>
          <a:prstGeom prst="rect">
            <a:avLst/>
          </a:prstGeom>
          <a:solidFill>
            <a:srgbClr val="122D44"/>
          </a:solidFill>
          <a:ln w="12700">
            <a:solidFill>
              <a:srgbClr val="4BDE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00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Every sensitive action is audited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4114800" cy="384048"/>
          </a:xfrm>
          <a:prstGeom prst="rect">
            <a:avLst/>
          </a:prstGeom>
          <a:solidFill>
            <a:srgbClr val="122D44"/>
          </a:solidFill>
          <a:ln w="12700">
            <a:solidFill>
              <a:srgbClr val="4BDE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393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Audit records chained for tamper detection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78224"/>
            <a:ext cx="4114800" cy="384048"/>
          </a:xfrm>
          <a:prstGeom prst="rect">
            <a:avLst/>
          </a:prstGeom>
          <a:solidFill>
            <a:srgbClr val="122D44"/>
          </a:solidFill>
          <a:ln w="12700">
            <a:solidFill>
              <a:srgbClr val="4BDE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7822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Routes protected by auth + role middleware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517136"/>
            <a:ext cx="4114800" cy="384048"/>
          </a:xfrm>
          <a:prstGeom prst="rect">
            <a:avLst/>
          </a:prstGeom>
          <a:solidFill>
            <a:srgbClr val="122D44"/>
          </a:solidFill>
          <a:ln w="12700">
            <a:solidFill>
              <a:srgbClr val="4BDE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5171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✓  Common web protections enabled (helmet, cors, rate-limit)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⚠️  Important Caveats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1444752"/>
            <a:ext cx="4023360" cy="594360"/>
          </a:xfrm>
          <a:prstGeom prst="rect">
            <a:avLst/>
          </a:prstGeom>
          <a:solidFill>
            <a:srgbClr val="122D44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0" y="1463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ABE is not cryptographic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17190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8B8"/>
                </a:solidFill>
              </a:rPr>
              <a:t>It is application-level attribute rule checking, not real crypto ABE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130552"/>
            <a:ext cx="4023360" cy="594360"/>
          </a:xfrm>
          <a:prstGeom prst="rect">
            <a:avLst/>
          </a:prstGeom>
          <a:solidFill>
            <a:srgbClr val="122D44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0" y="2148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JWT in localStorage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24048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8B8"/>
                </a:solidFill>
              </a:rPr>
              <a:t>Common practice, but weaker vs XSS than HttpOnly cookies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816352"/>
            <a:ext cx="4023360" cy="594360"/>
          </a:xfrm>
          <a:prstGeom prst="rect">
            <a:avLst/>
          </a:prstGeom>
          <a:solidFill>
            <a:srgbClr val="122D44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0" y="28346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Internal blockchain only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30906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8B8"/>
                </a:solidFill>
              </a:rPr>
              <a:t>SHA-256 chain inside the app – not decentralized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502152"/>
            <a:ext cx="4023360" cy="594360"/>
          </a:xfrm>
          <a:prstGeom prst="rect">
            <a:avLst/>
          </a:prstGeom>
          <a:solidFill>
            <a:srgbClr val="122D44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0" y="3520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Master key in env vars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37764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8B8"/>
                </a:solidFill>
              </a:rPr>
              <a:t>Fine for dev; production should use KMS / secret manager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4187952"/>
            <a:ext cx="4023360" cy="594360"/>
          </a:xfrm>
          <a:prstGeom prst="rect">
            <a:avLst/>
          </a:prstGeom>
          <a:solidFill>
            <a:srgbClr val="122D44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0" y="42062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Redis not security-critical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44622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8B8"/>
                </a:solidFill>
              </a:rPr>
              <a:t>Present in stack but not central to current auth logic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5029200" cy="5029200"/>
          </a:xfrm>
          <a:prstGeom prst="ellipse">
            <a:avLst/>
          </a:prstGeom>
          <a:solidFill>
            <a:srgbClr val="0A8A8A">
              <a:alpha val="10000"/>
            </a:srgbClr>
          </a:solidFill>
          <a:ln w="12700">
            <a:solidFill>
              <a:srgbClr val="0A8A8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22D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02C4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HealthVault – Security Summary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B8B8"/>
                </a:solidFill>
              </a:rPr>
              <a:t>A layered security model that combines: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1920240" cy="1325880"/>
          </a:xfrm>
          <a:prstGeom prst="rect">
            <a:avLst/>
          </a:prstGeom>
          <a:solidFill>
            <a:srgbClr val="122D44"/>
          </a:solidFill>
          <a:ln w="12700">
            <a:solidFill>
              <a:srgbClr val="0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36192"/>
            <a:ext cx="1920240" cy="457200"/>
          </a:xfrm>
          <a:prstGeom prst="rect">
            <a:avLst/>
          </a:prstGeom>
          <a:solidFill>
            <a:srgbClr val="0A8A8A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5361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153619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Identity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066544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B8"/>
                </a:solidFill>
              </a:rPr>
              <a:t>bcrypt + JWT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87168" y="1536192"/>
            <a:ext cx="1920240" cy="1325880"/>
          </a:xfrm>
          <a:prstGeom prst="rect">
            <a:avLst/>
          </a:prstGeom>
          <a:solidFill>
            <a:srgbClr val="122D44"/>
          </a:solidFill>
          <a:ln w="12700">
            <a:solidFill>
              <a:srgbClr val="0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87168" y="1536192"/>
            <a:ext cx="1920240" cy="457200"/>
          </a:xfrm>
          <a:prstGeom prst="rect">
            <a:avLst/>
          </a:prstGeom>
          <a:solidFill>
            <a:srgbClr val="0A8A8A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487168" y="15361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90088" y="153619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MFA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78608" y="2066544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B8"/>
                </a:solidFill>
              </a:rPr>
              <a:t>TOTP required for doctors &amp; admins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08576" y="1536192"/>
            <a:ext cx="1920240" cy="1325880"/>
          </a:xfrm>
          <a:prstGeom prst="rect">
            <a:avLst/>
          </a:prstGeom>
          <a:solidFill>
            <a:srgbClr val="122D44"/>
          </a:solidFill>
          <a:ln w="12700">
            <a:solidFill>
              <a:srgbClr val="0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08576" y="1536192"/>
            <a:ext cx="1920240" cy="457200"/>
          </a:xfrm>
          <a:prstGeom prst="rect">
            <a:avLst/>
          </a:prstGeom>
          <a:solidFill>
            <a:srgbClr val="0A8A8A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608576" y="15361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11496" y="153619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0016" y="2066544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B8"/>
                </a:solidFill>
              </a:rPr>
              <a:t>RBAC restricts every endpoint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9984" y="1536192"/>
            <a:ext cx="1920240" cy="1325880"/>
          </a:xfrm>
          <a:prstGeom prst="rect">
            <a:avLst/>
          </a:prstGeom>
          <a:solidFill>
            <a:srgbClr val="122D44"/>
          </a:solidFill>
          <a:ln w="12700">
            <a:solidFill>
              <a:srgbClr val="0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9984" y="1536192"/>
            <a:ext cx="1920240" cy="457200"/>
          </a:xfrm>
          <a:prstGeom prst="rect">
            <a:avLst/>
          </a:prstGeom>
          <a:solidFill>
            <a:srgbClr val="0A8A8A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729984" y="15361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32904" y="153619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21424" y="2066544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B8"/>
                </a:solidFill>
              </a:rPr>
              <a:t>Patient controls doctor access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044952"/>
            <a:ext cx="1920240" cy="1325880"/>
          </a:xfrm>
          <a:prstGeom prst="rect">
            <a:avLst/>
          </a:prstGeom>
          <a:solidFill>
            <a:srgbClr val="122D44"/>
          </a:solidFill>
          <a:ln w="12700">
            <a:solidFill>
              <a:srgbClr val="0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044952"/>
            <a:ext cx="1920240" cy="457200"/>
          </a:xfrm>
          <a:prstGeom prst="rect">
            <a:avLst/>
          </a:prstGeom>
          <a:solidFill>
            <a:srgbClr val="0A8A8A">
              <a:alpha val="7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044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🏷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68680" y="304495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Attributes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3575304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B8"/>
                </a:solidFill>
              </a:rPr>
              <a:t>Extra policy filter post-consent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87168" y="3044952"/>
            <a:ext cx="1920240" cy="1325880"/>
          </a:xfrm>
          <a:prstGeom prst="rect">
            <a:avLst/>
          </a:prstGeom>
          <a:solidFill>
            <a:srgbClr val="122D44"/>
          </a:solidFill>
          <a:ln w="12700">
            <a:solidFill>
              <a:srgbClr val="0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487168" y="3044952"/>
            <a:ext cx="1920240" cy="457200"/>
          </a:xfrm>
          <a:prstGeom prst="rect">
            <a:avLst/>
          </a:prstGeom>
          <a:solidFill>
            <a:srgbClr val="0A8A8A">
              <a:alpha val="7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487168" y="3044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990088" y="304495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Encryption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578608" y="3575304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B8"/>
                </a:solidFill>
              </a:rPr>
              <a:t>AES-256-GCM at rest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08576" y="3044952"/>
            <a:ext cx="1920240" cy="1325880"/>
          </a:xfrm>
          <a:prstGeom prst="rect">
            <a:avLst/>
          </a:prstGeom>
          <a:solidFill>
            <a:srgbClr val="122D44"/>
          </a:solidFill>
          <a:ln w="12700">
            <a:solidFill>
              <a:srgbClr val="0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08576" y="3044952"/>
            <a:ext cx="1920240" cy="457200"/>
          </a:xfrm>
          <a:prstGeom prst="rect">
            <a:avLst/>
          </a:prstGeom>
          <a:solidFill>
            <a:srgbClr val="0A8A8A">
              <a:alpha val="7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608576" y="3044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111496" y="304495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Audit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700016" y="3575304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B8"/>
                </a:solidFill>
              </a:rPr>
              <a:t>Every action logged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29984" y="3044952"/>
            <a:ext cx="1920240" cy="1325880"/>
          </a:xfrm>
          <a:prstGeom prst="rect">
            <a:avLst/>
          </a:prstGeom>
          <a:solidFill>
            <a:srgbClr val="122D44"/>
          </a:solidFill>
          <a:ln w="12700">
            <a:solidFill>
              <a:srgbClr val="0A8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729984" y="3044952"/>
            <a:ext cx="1920240" cy="457200"/>
          </a:xfrm>
          <a:prstGeom prst="rect">
            <a:avLst/>
          </a:prstGeom>
          <a:solidFill>
            <a:srgbClr val="0A8A8A">
              <a:alpha val="7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729984" y="3044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⛓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232904" y="304495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Chain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821424" y="3575304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8B8"/>
                </a:solidFill>
              </a:rPr>
              <a:t>Tamper-evident hash chain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22D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188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B8B8"/>
                </a:solidFill>
              </a:rPr>
              <a:t>Security is not just about blocking bad access — it's about making all access traceable and accountable.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22D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188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B8B8"/>
                </a:solidFill>
              </a:rPr>
              <a:t>Security is not just about blocking bad access — it's about making all access traceable and accountable.</a:t>
            </a:r>
            <a:endParaRPr lang="en-US" sz="11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CF5A4D1-706E-4BD2-B71D-B73658709F29}"/>
              </a:ext>
            </a:extLst>
          </p:cNvPr>
          <p:cNvSpPr txBox="1"/>
          <p:nvPr/>
        </p:nvSpPr>
        <p:spPr>
          <a:xfrm>
            <a:off x="3291840" y="1891030"/>
            <a:ext cx="4907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Thank you</a:t>
            </a:r>
            <a:endParaRPr lang="en-IN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545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1179</Words>
  <Application>Microsoft Office PowerPoint</Application>
  <PresentationFormat>On-screen Show (16:9)</PresentationFormat>
  <Paragraphs>288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Abadi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HealthVault – Secure Healthcare Data Sharing Platform</dc:title>
  <dc:subject>PptxGenJS Presentation</dc:subject>
  <dc:creator>PptxGenJS</dc:creator>
  <cp:lastModifiedBy>Ashish Bongu</cp:lastModifiedBy>
  <cp:revision>7</cp:revision>
  <dcterms:created xsi:type="dcterms:W3CDTF">2026-04-07T19:49:36Z</dcterms:created>
  <dcterms:modified xsi:type="dcterms:W3CDTF">2026-04-07T20:51:30Z</dcterms:modified>
</cp:coreProperties>
</file>